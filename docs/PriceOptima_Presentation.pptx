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0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0842F"/>
                </a:solidFill>
                <a:latin typeface="Calibri"/>
              </a:rPr>
              <a:t>MLOPS LABORATORY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Calibri"/>
              </a:rPr>
              <a:t>PriceOptima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6324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D5E4DE"/>
                </a:solidFill>
                <a:latin typeface="Calibri"/>
              </a:rPr>
              <a:t>Predict monthly retail quantity.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D5E4DE"/>
                </a:solidFill>
                <a:latin typeface="Calibri"/>
              </a:rPr>
              <a:t>Choose the price that maximises profit.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9FB8B0"/>
                </a:solidFill>
                <a:latin typeface="Calibri"/>
              </a:rPr>
              <a:t>DVC pipeline   ·   MLflow   ·   FastAPI   ·   Docker   ·   GitHub Actions   ·   S3 and EC2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5D0C8"/>
                </a:solidFill>
                <a:latin typeface="Calibri"/>
              </a:rPr>
              <a:t>PriceOptima  ·  MLOps laboratory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5D0C8"/>
                </a:solidFill>
                <a:latin typeface="Calibri"/>
              </a:rPr>
              <a:t>1  / 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B1F3A"/>
                </a:solidFill>
                <a:latin typeface="Calibri"/>
              </a:rPr>
              <a:t>Aim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2011680" cy="54864"/>
          </a:xfrm>
          <a:prstGeom prst="rect">
            <a:avLst/>
          </a:prstGeom>
          <a:solidFill>
            <a:srgbClr val="B0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15568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C2433"/>
                </a:solidFill>
                <a:latin typeface="Calibri"/>
              </a:rPr>
              <a:t>Build a pricing service that predicts how many units a product will sell in a month, then searches a price grid and keeps the price with the highest profit.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880360"/>
            <a:ext cx="112471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880360"/>
            <a:ext cx="91440" cy="960120"/>
          </a:xfrm>
          <a:prstGeom prst="rect">
            <a:avLst/>
          </a:prstGeom>
          <a:solidFill>
            <a:srgbClr val="0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008376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6E6E"/>
                </a:solidFill>
                <a:latin typeface="Calibri"/>
              </a:rPr>
              <a:t>Predict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433"/>
                </a:solidFill>
                <a:latin typeface="Calibri"/>
              </a:rPr>
              <a:t>Monthly quantity, column qty, from price and context.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77639"/>
            <a:ext cx="112471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977639"/>
            <a:ext cx="91440" cy="960120"/>
          </a:xfrm>
          <a:prstGeom prst="rect">
            <a:avLst/>
          </a:prstGeom>
          <a:solidFill>
            <a:srgbClr val="0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105655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6E6E"/>
                </a:solidFill>
                <a:latin typeface="Calibri"/>
              </a:rPr>
              <a:t>Decide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416551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433"/>
                </a:solidFill>
                <a:latin typeface="Calibri"/>
              </a:rPr>
              <a:t>Score each candidate price. Profit is quantity times price minus cost.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074920"/>
            <a:ext cx="112471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5074920"/>
            <a:ext cx="91440" cy="960120"/>
          </a:xfrm>
          <a:prstGeom prst="rect">
            <a:avLst/>
          </a:prstGeom>
          <a:solidFill>
            <a:srgbClr val="0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202936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6E6E"/>
                </a:solidFill>
                <a:latin typeface="Calibri"/>
              </a:rPr>
              <a:t>Operate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513832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433"/>
                </a:solidFill>
                <a:latin typeface="Calibri"/>
              </a:rPr>
              <a:t>Version the data, track every model, serve one, and deploy it so it can be rolled back.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</a:rPr>
              <a:t>PriceOptima  ·  MLOps laboratory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</a:rPr>
              <a:t>2  / 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B1F3A"/>
                </a:solidFill>
                <a:latin typeface="Calibri"/>
              </a:rPr>
              <a:t>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2011680" cy="54864"/>
          </a:xfrm>
          <a:prstGeom prst="rect">
            <a:avLst/>
          </a:prstGeom>
          <a:solidFill>
            <a:srgbClr val="B0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365760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3560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0842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B1F3A"/>
                </a:solidFill>
                <a:latin typeface="Calibri"/>
              </a:rPr>
              <a:t>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One parameter file. Five DVC stages. A lock file that names every hash.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234440"/>
            <a:ext cx="365760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43560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0842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8745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B1F3A"/>
                </a:solidFill>
                <a:latin typeface="Calibri"/>
              </a:rPr>
              <a:t>Experiments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37744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Train 14 models. Log them in MLflow. Promote the lowest test RMSE.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234440"/>
            <a:ext cx="365760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43560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0842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8745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B1F3A"/>
                </a:solidFill>
                <a:latin typeface="Calibri"/>
              </a:rPr>
              <a:t>Honest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37744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Hold out the last 4 months. Do not take 20% of the rows from every month.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703320"/>
            <a:ext cx="365760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0448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0842F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3434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B1F3A"/>
                </a:solidFill>
                <a:latin typeface="Calibri"/>
              </a:rPr>
              <a:t>Serving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84632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FastAPI uses the same feature code as training. No second implementation.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3703320"/>
            <a:ext cx="365760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390448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0842F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3434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B1F3A"/>
                </a:solidFill>
                <a:latin typeface="Calibri"/>
              </a:rPr>
              <a:t>Packaging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84632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The Docker image has the code. It downloads the pickle when it starts.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703320"/>
            <a:ext cx="365760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90448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0842F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3434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B1F3A"/>
                </a:solidFill>
                <a:latin typeface="Calibri"/>
              </a:rPr>
              <a:t>Cloud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84632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GitHub Actions checks the lock. S3 stores the model. EC2 runs the API.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</a:rPr>
              <a:t>PriceOptima  ·  MLOps laboratory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</a:rPr>
              <a:t>3  / 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B1F3A"/>
                </a:solidFill>
                <a:latin typeface="Calibri"/>
              </a:rPr>
              <a:t>Data and the split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2011680" cy="54864"/>
          </a:xfrm>
          <a:prstGeom prst="rect">
            <a:avLst/>
          </a:prstGeom>
          <a:solidFill>
            <a:srgbClr val="B0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433"/>
                </a:solidFill>
                <a:latin typeface="Calibri"/>
              </a:rPr>
              <a:t>Kaggle Retail Price Optimization. 676 product-months, 30 columns, January 2017 to August 2018. Target: qty.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92024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949440"/>
                <a:gridCol w="228600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Months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Rows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C2433"/>
                          </a:solidFill>
                          <a:latin typeface="Calibri"/>
                        </a:rPr>
                        <a:t>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433"/>
                          </a:solidFill>
                          <a:latin typeface="Calibri"/>
                        </a:rPr>
                        <a:t>16 months  ·  Jan 2017 – Apr 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433"/>
                          </a:solidFill>
                          <a:latin typeface="Calibri"/>
                        </a:rPr>
                        <a:t>516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C2433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>
                    <a:solidFill>
                      <a:srgbClr val="E7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433"/>
                          </a:solidFill>
                          <a:latin typeface="Calibri"/>
                        </a:rPr>
                        <a:t>4 months  ·  May 2018 – Aug 2018</a:t>
                      </a:r>
                    </a:p>
                  </a:txBody>
                  <a:tcPr>
                    <a:solidFill>
                      <a:srgbClr val="E7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433"/>
                          </a:solidFill>
                          <a:latin typeface="Calibri"/>
                        </a:rPr>
                        <a:t>160</a:t>
                      </a:r>
                    </a:p>
                  </a:txBody>
                  <a:tcPr>
                    <a:solidFill>
                      <a:srgbClr val="E7EEE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840480"/>
            <a:ext cx="11247120" cy="2194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433"/>
                </a:solidFill>
                <a:latin typeface="Calibri"/>
              </a:rPr>
              <a:t>test_size: 0.2 is 20% of the 20 distinct months, not 20% of the rows inside each month.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433"/>
                </a:solidFill>
                <a:latin typeface="Calibri"/>
              </a:rPr>
              <a:t>A month stays entirely in train or entirely in test.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433"/>
                </a:solidFill>
                <a:latin typeface="Calibri"/>
              </a:rPr>
              <a:t>The test RMSE is computed once, on May–August 2018.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433"/>
                </a:solidFill>
                <a:latin typeface="Calibri"/>
              </a:rPr>
              <a:t>The live API does not recheck 20% of the data every month.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</a:rPr>
              <a:t>PriceOptima  ·  MLOps laboratory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</a:rPr>
              <a:t>4  / 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B1F3A"/>
                </a:solidFill>
                <a:latin typeface="Calibri"/>
              </a:rPr>
              <a:t>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2011680" cy="54864"/>
          </a:xfrm>
          <a:prstGeom prst="rect">
            <a:avLst/>
          </a:prstGeom>
          <a:solidFill>
            <a:srgbClr val="B0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214884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2148840" cy="109728"/>
          </a:xfrm>
          <a:prstGeom prst="rect">
            <a:avLst/>
          </a:prstGeom>
          <a:solidFill>
            <a:srgbClr val="0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0842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74519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B1F3A"/>
                </a:solidFill>
                <a:latin typeface="Calibri"/>
              </a:rPr>
              <a:t>Preprocess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77440"/>
            <a:ext cx="1874519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Clean dates.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Cut the last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4 months.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46888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6E6E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24912" y="1188720"/>
            <a:ext cx="214884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24912" y="1188720"/>
            <a:ext cx="2148840" cy="109728"/>
          </a:xfrm>
          <a:prstGeom prst="rect">
            <a:avLst/>
          </a:prstGeom>
          <a:solidFill>
            <a:srgbClr val="0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62072" y="141732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0842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62072" y="1874519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B1F3A"/>
                </a:solidFill>
                <a:latin typeface="Calibri"/>
              </a:rPr>
              <a:t>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62072" y="2377440"/>
            <a:ext cx="1874519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Price vs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competitors.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Fit preprocessor.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246888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6E6E"/>
                </a:solidFill>
                <a:latin typeface="Calibr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4064" y="1188720"/>
            <a:ext cx="214884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84064" y="1188720"/>
            <a:ext cx="2148840" cy="109728"/>
          </a:xfrm>
          <a:prstGeom prst="rect">
            <a:avLst/>
          </a:prstGeom>
          <a:solidFill>
            <a:srgbClr val="0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1224" y="141732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0842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1874519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B1F3A"/>
                </a:solidFill>
                <a:latin typeface="Calibri"/>
              </a:rPr>
              <a:t>Train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2377440"/>
            <a:ext cx="1874519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14 models.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Log every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run in MLflow.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0024" y="246888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6E6E"/>
                </a:solidFill>
                <a:latin typeface="Calibri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43216" y="1188720"/>
            <a:ext cx="214884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43216" y="1188720"/>
            <a:ext cx="2148840" cy="109728"/>
          </a:xfrm>
          <a:prstGeom prst="rect">
            <a:avLst/>
          </a:prstGeom>
          <a:solidFill>
            <a:srgbClr val="0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0376" y="141732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0842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0376" y="1874519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B1F3A"/>
                </a:solidFill>
                <a:latin typeface="Calibri"/>
              </a:rPr>
              <a:t>Evaluate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0376" y="2377440"/>
            <a:ext cx="1874519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Rank by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test RMSE.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Write plots.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9176" y="246888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6E6E"/>
                </a:solidFill>
                <a:latin typeface="Calibri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02368" y="1188720"/>
            <a:ext cx="214884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802368" y="1188720"/>
            <a:ext cx="2148840" cy="109728"/>
          </a:xfrm>
          <a:prstGeom prst="rect">
            <a:avLst/>
          </a:prstGeom>
          <a:solidFill>
            <a:srgbClr val="0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39528" y="141732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0842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39528" y="1874519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B1F3A"/>
                </a:solidFill>
                <a:latin typeface="Calibri"/>
              </a:rPr>
              <a:t>Select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39528" y="2377440"/>
            <a:ext cx="1874519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Promote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model.pkl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and the card.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480560"/>
            <a:ext cx="1124712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433"/>
                </a:solidFill>
                <a:latin typeface="Calibri"/>
              </a:rPr>
              <a:t>Command:  dvc repro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433"/>
                </a:solidFill>
                <a:latin typeface="Calibri"/>
              </a:rPr>
              <a:t>A stage whose code, parameters, and inputs did not change is skipped.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433"/>
                </a:solidFill>
                <a:latin typeface="Calibri"/>
              </a:rPr>
              <a:t>params.yaml holds the settings.  dvc.yaml holds the steps.  dvc.lock holds the hashes.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</a:rPr>
              <a:t>PriceOptima  ·  MLOps laboratory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</a:rPr>
              <a:t>5  / 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B1F3A"/>
                </a:solidFill>
                <a:latin typeface="Calibri"/>
              </a:rPr>
              <a:t>Three files that control the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2011680" cy="54864"/>
          </a:xfrm>
          <a:prstGeom prst="rect">
            <a:avLst/>
          </a:prstGeom>
          <a:solidFill>
            <a:srgbClr val="B0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188720"/>
            <a:ext cx="370332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188720"/>
            <a:ext cx="3703320" cy="109728"/>
          </a:xfrm>
          <a:prstGeom prst="rect">
            <a:avLst/>
          </a:prstGeom>
          <a:solidFill>
            <a:srgbClr val="0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B1F3A"/>
                </a:solidFill>
                <a:latin typeface="Calibri"/>
              </a:rPr>
              <a:t>params.yaml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6E6E"/>
                </a:solidFill>
                <a:latin typeface="Calibri"/>
              </a:rPr>
              <a:t>The settings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3246120" cy="3108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433"/>
                </a:solidFill>
                <a:latin typeface="Calibri"/>
              </a:rPr>
              <a:t>Seed 42.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433"/>
                </a:solidFill>
                <a:latin typeface="Calibri"/>
              </a:rPr>
              <a:t>Chronological 20% split.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433"/>
                </a:solidFill>
                <a:latin typeface="Calibri"/>
              </a:rPr>
              <a:t>Date format %d-%m-%Y.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433"/>
                </a:solidFill>
                <a:latin typeface="Calibri"/>
              </a:rPr>
              <a:t>Target qty.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433"/>
                </a:solidFill>
                <a:latin typeface="Calibri"/>
              </a:rPr>
              <a:t>The 14-model grid.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188720"/>
            <a:ext cx="370332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188720"/>
            <a:ext cx="3703320" cy="109728"/>
          </a:xfrm>
          <a:prstGeom prst="rect">
            <a:avLst/>
          </a:prstGeom>
          <a:solidFill>
            <a:srgbClr val="0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463040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B1F3A"/>
                </a:solidFill>
                <a:latin typeface="Calibri"/>
              </a:rPr>
              <a:t>dvc.yaml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96596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6E6E"/>
                </a:solidFill>
                <a:latin typeface="Calibri"/>
              </a:rPr>
              <a:t>The recipe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468880"/>
            <a:ext cx="3246120" cy="3108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433"/>
                </a:solidFill>
                <a:latin typeface="Calibri"/>
              </a:rPr>
              <a:t>Command, inputs,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433"/>
                </a:solidFill>
                <a:latin typeface="Calibri"/>
              </a:rPr>
              <a:t>parameters, and outputs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433"/>
                </a:solidFill>
                <a:latin typeface="Calibri"/>
              </a:rPr>
              <a:t>for each of the five stages.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433"/>
                </a:solidFill>
                <a:latin typeface="Calibri"/>
              </a:rPr>
              <a:t>No data and no pickle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433"/>
                </a:solidFill>
                <a:latin typeface="Calibri"/>
              </a:rPr>
              <a:t>live in this file.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188720"/>
            <a:ext cx="370332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188720"/>
            <a:ext cx="3703320" cy="109728"/>
          </a:xfrm>
          <a:prstGeom prst="rect">
            <a:avLst/>
          </a:prstGeom>
          <a:solidFill>
            <a:srgbClr val="B0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9" y="1463040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B1F3A"/>
                </a:solidFill>
                <a:latin typeface="Calibri"/>
              </a:rPr>
              <a:t>dvc.lock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9" y="196596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6E6E"/>
                </a:solidFill>
                <a:latin typeface="Calibri"/>
              </a:rPr>
              <a:t>The proof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9" y="2468880"/>
            <a:ext cx="3246120" cy="3108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433"/>
                </a:solidFill>
                <a:latin typeface="Calibri"/>
              </a:rPr>
              <a:t>MD5 of the code,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433"/>
                </a:solidFill>
                <a:latin typeface="Calibri"/>
              </a:rPr>
              <a:t>the parameters, and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433"/>
                </a:solidFill>
                <a:latin typeface="Calibri"/>
              </a:rPr>
              <a:t>every output.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433"/>
                </a:solidFill>
                <a:latin typeface="Calibri"/>
              </a:rPr>
              <a:t>CI fails if this file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433"/>
                </a:solidFill>
                <a:latin typeface="Calibri"/>
              </a:rPr>
              <a:t>does not match the run.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</a:rPr>
              <a:t>PriceOptima  ·  MLOps laboratory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</a:rPr>
              <a:t>6  / 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B1F3A"/>
                </a:solidFill>
                <a:latin typeface="Calibri"/>
              </a:rPr>
              <a:t>Experiment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2011680" cy="54864"/>
          </a:xfrm>
          <a:prstGeom prst="rect">
            <a:avLst/>
          </a:prstGeom>
          <a:solidFill>
            <a:srgbClr val="B0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6B7A"/>
                </a:solidFill>
                <a:latin typeface="Calibri"/>
              </a:rPr>
              <a:t>MLflow experiment priceoptima-demand. Selection metric: test RMSE. Lower is better.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0876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846320"/>
                <a:gridCol w="1828800"/>
                <a:gridCol w="1645920"/>
              </a:tblGrid>
              <a:tr h="5486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Best setting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Test RMSE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Test R²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C2433"/>
                          </a:solidFill>
                          <a:latin typeface="Calibri"/>
                        </a:rPr>
                        <a:t>Gradient boosting</a:t>
                      </a:r>
                    </a:p>
                  </a:txBody>
                  <a:tcPr>
                    <a:solidFill>
                      <a:srgbClr val="E5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C2433"/>
                          </a:solidFill>
                          <a:latin typeface="Calibri"/>
                        </a:rPr>
                        <a:t>100 trees, lr 0.05, depth 3</a:t>
                      </a:r>
                    </a:p>
                  </a:txBody>
                  <a:tcPr>
                    <a:solidFill>
                      <a:srgbClr val="E5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C2433"/>
                          </a:solidFill>
                          <a:latin typeface="Calibri"/>
                        </a:rPr>
                        <a:t>7.53</a:t>
                      </a:r>
                    </a:p>
                  </a:txBody>
                  <a:tcPr>
                    <a:solidFill>
                      <a:srgbClr val="E5F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C2433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>
                    <a:solidFill>
                      <a:srgbClr val="E5F2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433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433"/>
                          </a:solidFill>
                          <a:latin typeface="Calibri"/>
                        </a:rPr>
                        <a:t>100 trees, depth 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433"/>
                          </a:solidFill>
                          <a:latin typeface="Calibri"/>
                        </a:rPr>
                        <a:t>7.76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433"/>
                          </a:solidFill>
                          <a:latin typeface="Calibri"/>
                        </a:rPr>
                        <a:t>0.47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433"/>
                          </a:solidFill>
                          <a:latin typeface="Calibri"/>
                        </a:rPr>
                        <a:t>LightGBM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433"/>
                          </a:solidFill>
                          <a:latin typeface="Calibri"/>
                        </a:rPr>
                        <a:t>100 trees, lr 0.1, 31 leaves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433"/>
                          </a:solidFill>
                          <a:latin typeface="Calibri"/>
                        </a:rPr>
                        <a:t>7.83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433"/>
                          </a:solidFill>
                          <a:latin typeface="Calibri"/>
                        </a:rPr>
                        <a:t>0.46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433"/>
                          </a:solidFill>
                          <a:latin typeface="Calibri"/>
                        </a:rPr>
                        <a:t>Ridge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433"/>
                          </a:solidFill>
                          <a:latin typeface="Calibri"/>
                        </a:rPr>
                        <a:t>alpha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433"/>
                          </a:solidFill>
                          <a:latin typeface="Calibri"/>
                        </a:rPr>
                        <a:t>10.76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433"/>
                          </a:solidFill>
                          <a:latin typeface="Calibri"/>
                        </a:rPr>
                        <a:t>−0.02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433"/>
                          </a:solidFill>
                          <a:latin typeface="Calibri"/>
                        </a:rPr>
                        <a:t>Linear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433"/>
                          </a:solidFill>
                          <a:latin typeface="Calibri"/>
                        </a:rPr>
                        <a:t>fit intercept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433"/>
                          </a:solidFill>
                          <a:latin typeface="Calibri"/>
                        </a:rPr>
                        <a:t>10.99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433"/>
                          </a:solidFill>
                          <a:latin typeface="Calibri"/>
                        </a:rPr>
                        <a:t>−0.06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029200"/>
            <a:ext cx="1124712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433"/>
                </a:solidFill>
                <a:latin typeface="Calibri"/>
              </a:rPr>
              <a:t>Sample: bed product, May 2018, price 39.99. Recorded sales 19.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433"/>
                </a:solidFill>
                <a:latin typeface="Calibri"/>
              </a:rPr>
              <a:t>Gradient boosting predicts about 7.91.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433"/>
                </a:solidFill>
                <a:latin typeface="Calibri"/>
              </a:rPr>
              <a:t>model-v1 is that boosting model. model-v2 is ridge, kept so a swap is visible.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</a:rPr>
              <a:t>PriceOptima  ·  MLOps laboratory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</a:rPr>
              <a:t>7  / 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B1F3A"/>
                </a:solidFill>
                <a:latin typeface="Calibri"/>
              </a:rPr>
              <a:t>Where each piece lives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2011680" cy="54864"/>
          </a:xfrm>
          <a:prstGeom prst="rect">
            <a:avLst/>
          </a:prstGeom>
          <a:solidFill>
            <a:srgbClr val="B0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265176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2651760" cy="6400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194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433"/>
                </a:solidFill>
                <a:latin typeface="Calibri"/>
              </a:rPr>
              <a:t>Code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433"/>
                </a:solidFill>
                <a:latin typeface="Calibri"/>
              </a:rPr>
              <a:t>dvc.yaml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433"/>
                </a:solidFill>
                <a:latin typeface="Calibri"/>
              </a:rPr>
              <a:t>dvc.lock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433"/>
                </a:solidFill>
                <a:latin typeface="Calibri"/>
              </a:rPr>
              <a:t>params.yaml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433"/>
                </a:solidFill>
                <a:latin typeface="Calibri"/>
              </a:rPr>
              <a:t>CI workflow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280160"/>
            <a:ext cx="265176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1280160"/>
            <a:ext cx="2651760" cy="6400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389888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057400"/>
            <a:ext cx="2286000" cy="2194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433"/>
                </a:solidFill>
                <a:latin typeface="Calibri"/>
              </a:rPr>
              <a:t>lint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433"/>
                </a:solidFill>
                <a:latin typeface="Calibri"/>
              </a:rPr>
              <a:t>test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433"/>
                </a:solidFill>
                <a:latin typeface="Calibri"/>
              </a:rPr>
              <a:t>lock check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433"/>
                </a:solidFill>
                <a:latin typeface="Calibri"/>
              </a:rPr>
              <a:t>docker build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280160"/>
            <a:ext cx="265176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80760" y="1280160"/>
            <a:ext cx="2651760" cy="6400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389888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057400"/>
            <a:ext cx="2286000" cy="2194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433"/>
                </a:solidFill>
                <a:latin typeface="Calibri"/>
              </a:rPr>
              <a:t>CSV and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433"/>
                </a:solidFill>
                <a:latin typeface="Calibri"/>
              </a:rPr>
              <a:t>model hashes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433"/>
                </a:solidFill>
                <a:latin typeface="Calibri"/>
              </a:rPr>
              <a:t>private bucket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433"/>
                </a:solidFill>
                <a:latin typeface="Calibri"/>
              </a:rPr>
              <a:t>eu-north-1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1280160"/>
            <a:ext cx="265176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15400" y="1280160"/>
            <a:ext cx="2651760" cy="6400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1389888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EC2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057400"/>
            <a:ext cx="2286000" cy="2194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433"/>
                </a:solidFill>
                <a:latin typeface="Calibri"/>
              </a:rPr>
              <a:t>t3.micro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433"/>
                </a:solidFill>
                <a:latin typeface="Calibri"/>
              </a:rPr>
              <a:t>container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433"/>
                </a:solidFill>
                <a:latin typeface="Calibri"/>
              </a:rPr>
              <a:t>port 8000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433"/>
                </a:solidFill>
                <a:latin typeface="Calibri"/>
              </a:rPr>
              <a:t>/docs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709160"/>
            <a:ext cx="1124712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C2433"/>
                </a:solidFill>
                <a:latin typeface="Calibri"/>
              </a:rPr>
              <a:t>The image does not contain model.pkl.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C2433"/>
                </a:solidFill>
                <a:latin typeface="Calibri"/>
              </a:rPr>
              <a:t>On start, fetch_model.sh runs dvc pull from S3. The EC2 role can read the bucket. It cannot delete it.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C2433"/>
                </a:solidFill>
                <a:latin typeface="Calibri"/>
              </a:rPr>
              <a:t>/health means the process is up. /ready means the model is loaded.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</a:rPr>
              <a:t>PriceOptima  ·  MLOps laboratory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</a:rPr>
              <a:t>8  / 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B1F3A"/>
                </a:solidFill>
                <a:latin typeface="Calibri"/>
              </a:rPr>
              <a:t>Serving and the price 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2011680" cy="54864"/>
          </a:xfrm>
          <a:prstGeom prst="rect">
            <a:avLst/>
          </a:prstGeom>
          <a:solidFill>
            <a:srgbClr val="B0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61872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6E6E"/>
                </a:solidFill>
                <a:latin typeface="Calibri"/>
              </a:rPr>
              <a:t>GET /health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261872"/>
            <a:ext cx="67665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433"/>
                </a:solidFill>
                <a:latin typeface="Calibri"/>
              </a:rPr>
              <a:t>The process is up.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920240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84832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6E6E"/>
                </a:solidFill>
                <a:latin typeface="Calibri"/>
              </a:rPr>
              <a:t>GET /ready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084832"/>
            <a:ext cx="67665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433"/>
                </a:solidFill>
                <a:latin typeface="Calibri"/>
              </a:rPr>
              <a:t>model.pkl, the preprocessor, and the model card are loaded.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43200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907792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6E6E"/>
                </a:solidFill>
                <a:latin typeface="Calibri"/>
              </a:rPr>
              <a:t>GET /model-info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907792"/>
            <a:ext cx="67665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433"/>
                </a:solidFill>
                <a:latin typeface="Calibri"/>
              </a:rPr>
              <a:t>Name, test RMSE, git commit, data hash.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566160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730752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6E6E"/>
                </a:solidFill>
                <a:latin typeface="Calibri"/>
              </a:rPr>
              <a:t>POST /predict-demand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730752"/>
            <a:ext cx="67665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433"/>
                </a:solidFill>
                <a:latin typeface="Calibri"/>
              </a:rPr>
              <a:t>Expected quantity at the price you send.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553712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6E6E"/>
                </a:solidFill>
                <a:latin typeface="Calibri"/>
              </a:rPr>
              <a:t>POST /optimize-price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553712"/>
            <a:ext cx="67665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433"/>
                </a:solidFill>
                <a:latin typeface="Calibri"/>
              </a:rPr>
              <a:t>Best price on the grid. Profit if unit_cost is sent.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212080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376672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6E6E"/>
                </a:solidFill>
                <a:latin typeface="Calibri"/>
              </a:rPr>
              <a:t>GET /docs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5376672"/>
            <a:ext cx="67665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433"/>
                </a:solidFill>
                <a:latin typeface="Calibri"/>
              </a:rPr>
              <a:t>The Swagger page used in the demonstration.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</a:rPr>
              <a:t>PriceOptima  ·  MLOps laboratory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</a:rPr>
              <a:t>9  / 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B1F3A"/>
                </a:solidFill>
                <a:latin typeface="Calibri"/>
              </a:rPr>
              <a:t>CI, then the release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2011680" cy="54864"/>
          </a:xfrm>
          <a:prstGeom prst="rect">
            <a:avLst/>
          </a:prstGeom>
          <a:solidFill>
            <a:srgbClr val="B0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2651760" cy="141732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lint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5E4DE"/>
                </a:solidFill>
                <a:latin typeface="Calibri"/>
              </a:rPr>
              <a:t>Ruff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5544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6E6E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143000"/>
            <a:ext cx="2651760" cy="141732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3258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874519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5E4DE"/>
                </a:solidFill>
                <a:latin typeface="Calibri"/>
              </a:rPr>
              <a:t>Pytest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15544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6E6E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143000"/>
            <a:ext cx="2651760" cy="141732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3258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lock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874519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5E4DE"/>
                </a:solidFill>
                <a:latin typeface="Calibri"/>
              </a:rPr>
              <a:t>dvc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15544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6E6E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143000"/>
            <a:ext cx="2651760" cy="141732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3258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1874519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5E4DE"/>
                </a:solidFill>
                <a:latin typeface="Calibri"/>
              </a:rPr>
              <a:t>docker 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88036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433"/>
                </a:solidFill>
                <a:latin typeface="Calibri"/>
              </a:rPr>
              <a:t>A failure stops the later jobs. The image is not built if the lock does not match.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65760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433"/>
                </a:solidFill>
                <a:latin typeface="Calibri"/>
              </a:rPr>
              <a:t>With no AWS secret, the lock check uses the dvc-storage folder in the repository.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4348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433"/>
                </a:solidFill>
                <a:latin typeface="Calibri"/>
              </a:rPr>
              <a:t>CD runs only after CI succeeds on main. It smoke-tests, scans, and deploys.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212079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433"/>
                </a:solidFill>
                <a:latin typeface="Calibri"/>
              </a:rPr>
              <a:t>deploy.sh waits 120 seconds for /ready. If that fails, it starts the previous image.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</a:rPr>
              <a:t>PriceOptima  ·  MLOps laboratory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</a:rPr>
              <a:t>10  / 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B1F3A"/>
                </a:solidFill>
                <a:latin typeface="Calibri"/>
              </a:rPr>
              <a:t>Two models, one image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2011680" cy="54864"/>
          </a:xfrm>
          <a:prstGeom prst="rect">
            <a:avLst/>
          </a:prstGeom>
          <a:solidFill>
            <a:srgbClr val="B0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48640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6E6E"/>
                </a:solidFill>
                <a:latin typeface="Calibri"/>
              </a:rPr>
              <a:t>model-v1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433"/>
                </a:solidFill>
                <a:latin typeface="Calibri"/>
              </a:rPr>
              <a:t>Gradient boosting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433"/>
                </a:solidFill>
                <a:latin typeface="Calibri"/>
              </a:rPr>
              <a:t>100 trees, learning rate 0.05, depth 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433"/>
                </a:solidFill>
                <a:latin typeface="Calibri"/>
              </a:rPr>
              <a:t>Test RMSE 7.53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433"/>
                </a:solidFill>
                <a:latin typeface="Calibri"/>
              </a:rPr>
              <a:t>This is the best experiment.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48640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173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0842F"/>
                </a:solidFill>
                <a:latin typeface="Calibri"/>
              </a:rPr>
              <a:t>model-v2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6596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433"/>
                </a:solidFill>
                <a:latin typeface="Calibri"/>
              </a:rPr>
              <a:t>Ridge, alpha 10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433"/>
                </a:solidFill>
                <a:latin typeface="Calibri"/>
              </a:rPr>
              <a:t>Test RMSE 10.76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433"/>
                </a:solidFill>
                <a:latin typeface="Calibri"/>
              </a:rPr>
              <a:t>Worse on purpose.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433"/>
                </a:solidFill>
                <a:latin typeface="Calibri"/>
              </a:rPr>
              <a:t>The current lock serves this one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433"/>
                </a:solidFill>
                <a:latin typeface="Calibri"/>
              </a:rPr>
              <a:t>so a swap changes the answer.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03520"/>
            <a:ext cx="1124712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433"/>
                </a:solidFill>
                <a:latin typeface="Calibri"/>
              </a:rPr>
              <a:t>MODEL_VERSION selects a git tag. The container pulls that lock from S3.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2433"/>
                </a:solidFill>
                <a:latin typeface="Calibri"/>
              </a:rPr>
              <a:t>The Docker image is not rebuilt.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</a:rPr>
              <a:t>PriceOptima  ·  MLOps laboratory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</a:rPr>
              <a:t>11  / 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B1F3A"/>
                </a:solidFill>
                <a:latin typeface="Calibri"/>
              </a:rPr>
              <a:t>MLOps ideas in this repository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2011680" cy="54864"/>
          </a:xfrm>
          <a:prstGeom prst="rect">
            <a:avLst/>
          </a:prstGeom>
          <a:solidFill>
            <a:srgbClr val="B0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143000"/>
            <a:ext cx="27889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41732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Versioned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224028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433"/>
                </a:solidFill>
                <a:latin typeface="Calibri"/>
              </a:rPr>
              <a:t>DVC hash in S3, pointer in Git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0128" y="1143000"/>
            <a:ext cx="27889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41732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Tracked experiments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24028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433"/>
                </a:solidFill>
                <a:latin typeface="Calibri"/>
              </a:rPr>
              <a:t>14 MLflow runs, one metric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143000"/>
            <a:ext cx="27889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41732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Promoted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24028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433"/>
                </a:solidFill>
                <a:latin typeface="Calibri"/>
              </a:rPr>
              <a:t>model.pkl plus model_meta.json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98864" y="1143000"/>
            <a:ext cx="27889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63456" y="141732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Same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224028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433"/>
                </a:solidFill>
                <a:latin typeface="Calibri"/>
              </a:rPr>
              <a:t>src/features.py used by the 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611880"/>
            <a:ext cx="27889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388620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Immutable image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470916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433"/>
                </a:solidFill>
                <a:latin typeface="Calibri"/>
              </a:rPr>
              <a:t>Code in Docker, model outside 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10128" y="3611880"/>
            <a:ext cx="27889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388620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Automated 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70916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433"/>
                </a:solidFill>
                <a:latin typeface="Calibri"/>
              </a:rPr>
              <a:t>lint, test, lock, build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54496" y="3611880"/>
            <a:ext cx="27889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388620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Rollback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470916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433"/>
                </a:solidFill>
                <a:latin typeface="Calibri"/>
              </a:rPr>
              <a:t>previous image if /ready fails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98864" y="3611880"/>
            <a:ext cx="27889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63456" y="388620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Readiness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63456" y="470916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433"/>
                </a:solidFill>
                <a:latin typeface="Calibri"/>
              </a:rPr>
              <a:t>/ready is the deploy gate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</a:rPr>
              <a:t>PriceOptima  ·  MLOps laboratory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</a:rPr>
              <a:t>12  / 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B1F3A"/>
                </a:solidFill>
                <a:latin typeface="Calibri"/>
              </a:rPr>
              <a:t>Questions worth answering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2011680" cy="54864"/>
          </a:xfrm>
          <a:prstGeom prst="rect">
            <a:avLst/>
          </a:prstGeom>
          <a:solidFill>
            <a:srgbClr val="B0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6E6E"/>
                </a:solidFill>
                <a:latin typeface="Calibri"/>
              </a:rPr>
              <a:t>Why DVC, not only Git?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3560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433"/>
                </a:solidFill>
                <a:latin typeface="Calibri"/>
              </a:rPr>
              <a:t>Git holds code and dvc.lock. The pickle is stored by hash. A tag selects a lock.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6E6E"/>
                </a:solidFill>
                <a:latin typeface="Calibri"/>
              </a:rPr>
              <a:t>Why is the model outside the image?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1576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433"/>
                </a:solidFill>
                <a:latin typeface="Calibri"/>
              </a:rPr>
              <a:t>A new model would otherwise mean a new image. MODEL_VERSION only changes the pull.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11879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6E6E"/>
                </a:solidFill>
                <a:latin typeface="Calibri"/>
              </a:rPr>
              <a:t>Why CI?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95927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433"/>
                </a:solidFill>
                <a:latin typeface="Calibri"/>
              </a:rPr>
              <a:t>Every change runs the same lint, tests, lock check, and image build.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9204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6E6E"/>
                </a:solidFill>
                <a:latin typeface="Calibri"/>
              </a:rPr>
              <a:t>What is not in this lab?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27608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433"/>
                </a:solidFill>
                <a:latin typeface="Calibri"/>
              </a:rPr>
              <a:t>No drift detector. Monitoring is /ready and a request counter. Say that plainly.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</a:rPr>
              <a:t>PriceOptima  ·  MLOps laboratory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</a:rPr>
              <a:t>13  / 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0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0842F"/>
                </a:solidFill>
                <a:latin typeface="Calibri"/>
              </a:rPr>
              <a:t>What to 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515600" cy="2377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Calibri"/>
              </a:rPr>
              <a:t>A future-month test.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Calibri"/>
              </a:rPr>
              <a:t>Fourteen tracked models.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Calibri"/>
              </a:rPr>
              <a:t>One image, two model versions.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Calibri"/>
              </a:rPr>
              <a:t>The model is pulled from S3 when the container starts.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5E4DE"/>
                </a:solidFill>
                <a:latin typeface="Calibri"/>
              </a:rPr>
              <a:t>Report:  docs/PROJECT_REPORT.md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5D0C8"/>
                </a:solidFill>
                <a:latin typeface="Calibri"/>
              </a:rPr>
              <a:t>PriceOptima  ·  MLOps laboratory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5D0C8"/>
                </a:solidFill>
                <a:latin typeface="Calibri"/>
              </a:rPr>
              <a:t>14  / 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PriceOptima</dc:title>
  <dc:subject>MLOps laboratory: dynamic retail pricing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